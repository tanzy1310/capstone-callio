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6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52</c:v>
                </c:pt>
                <c:pt idx="2">
                  <c:v>45</c:v>
                </c:pt>
                <c:pt idx="3">
                  <c:v>61</c:v>
                </c:pt>
                <c:pt idx="4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6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Objections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604F"/>
              </a:solidFill>
              <a:effectLst/>
            </c:spPr>
          </c:dPt>
          <c:dPt>
            <c:idx val="1"/>
            <c:bubble3D val="0"/>
            <c:spPr>
              <a:solidFill>
                <a:srgbClr val="F2A93B"/>
              </a:solidFill>
              <a:effectLst/>
            </c:spPr>
          </c:dPt>
          <c:dPt>
            <c:idx val="2"/>
            <c:bubble3D val="0"/>
            <c:spPr>
              <a:solidFill>
                <a:srgbClr val="3E7CB1"/>
              </a:solidFill>
              <a:effectLst/>
            </c:spPr>
          </c:dPt>
          <c:dPt>
            <c:idx val="3"/>
            <c:bubble3D val="0"/>
            <c:spPr>
              <a:solidFill>
                <a:srgbClr val="2AA79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Price</c:v>
                </c:pt>
                <c:pt idx="1">
                  <c:v>Location</c:v>
                </c:pt>
                <c:pt idx="2">
                  <c:v>Timing</c:v>
                </c:pt>
                <c:pt idx="3">
                  <c:v>Financing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24</c:v>
                </c:pt>
                <c:pt idx="2">
                  <c:v>20</c:v>
                </c:pt>
                <c:pt idx="3">
                  <c:v>14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Callio is an AI sales copilot for property agents. The one-line pitch: agents lose deals in the gap between conversations — Callio closes that gap by handling WhatsApp replies, analysing calls, and giving managers real-time visibility. Approved by people, not fully automated.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from the agent's day. The recurring theme is the FOLLOW-UP GAP: response is slow, channels are fragmented, calls aren't captured, and managers have no visibility. Each of these directly loses revenue. This sets up the three pillars.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now. Buyers live on WhatsApp; the response window is minutes; and AI has become good and cheap enough to read conversations in real time. The opportunity is not a new model — it is the tooling that connects models to the agent's real workflow. Note: the stats here are directional market framing, not our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in one slide. Three pillars — Engage, Understand, Manage — sharing one lead record. Emphasise the bottom bar: every AI action is a draft or a suggestion the human approves. That is our trust story and it recurs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one: Engage. Walk the mockup left to right — lead asks a question, Callio drafts a contextual reply using the conversation and the lead profile, agent approves or edits and sends. The point: speed of a bot, judgement of a human. Leads imported from Google Sheets or captured from chats land in this same inbox.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two: Understand. Every call becomes structured data — sentiment, buyer stage, objections with quoted evidence, next actions, and preferences — all attached back to the lead record. Business value: automatic coaching and a permanent memory of what the buyer wants, on every call rather than the rare one a manager sits in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three: Manage. Agents get their own KPI dashboard; team leaders get a rollup plus a per-agent table. The two charts are illustrative: activity trend and the objections mix the whole team is hitting — so leaders coach the pattern, not just one rep. Data shown is sample data, not live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it as a closed loop, not a funnel. Capture → Engage → Call → Analyse → Manage → Close, and the data from each step feeds the next. The takeaway: Callio doesn't just make agents busier, it makes the whole team smarter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case in plain terms — faster response, no lost follow-ups, every call captured, one live pipeline view. Keep the framing qualitative and mechanism-based rather than promising a fixed ROI number, since this is a build-stage product. The through-line: less admin, more selling, more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Differentiation. Contrast the status quo (desktop CRM, lost calls, memory-based follow-up, stale reporting) with Callio (lives in WhatsApp, captures every call, AI-flagged follow-ups, live manager view). The defensible edge is the compounding lead memory plus the human-in-the-loop trust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arc: Now (shipped), Next (building), Later (vision) — copilot to autopilot. End on the one-line pitch and the call to action. Keep it short and confident;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6035040" cy="6035040"/>
          </a:xfrm>
          <a:prstGeom prst="ellipse">
            <a:avLst/>
          </a:prstGeom>
          <a:solidFill>
            <a:srgbClr val="1B2C49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868680"/>
            <a:ext cx="868680" cy="86868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08813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9692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CALLIO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984248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SALES COPILOT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more property deals</a:t>
            </a:r>
            <a:endParaRPr lang="en-US" sz="3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dropping a single lead.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932688" y="461772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that answers every WhatsApp, listens to every call, and shows managers exactly where each deal stands — powered by AI, approved by people.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932688" y="580644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1B2C49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5806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721608" y="580644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1B2C49"/>
          </a:solidFill>
          <a:ln/>
        </p:spPr>
      </p:sp>
      <p:sp>
        <p:nvSpPr>
          <p:cNvPr id="13" name="Text 10"/>
          <p:cNvSpPr/>
          <p:nvPr/>
        </p:nvSpPr>
        <p:spPr>
          <a:xfrm>
            <a:off x="3721608" y="5806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Intelligence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10528" y="580644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1B2C49"/>
          </a:solidFill>
          <a:ln/>
        </p:spPr>
      </p:sp>
      <p:sp>
        <p:nvSpPr>
          <p:cNvPr id="15" name="Text 12"/>
          <p:cNvSpPr/>
          <p:nvPr/>
        </p:nvSpPr>
        <p:spPr>
          <a:xfrm>
            <a:off x="6510528" y="5806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don't die on the call — they die in the follow-up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459736"/>
            <a:ext cx="822960" cy="822960"/>
          </a:xfrm>
          <a:prstGeom prst="ellipse">
            <a:avLst/>
          </a:prstGeom>
          <a:solidFill>
            <a:srgbClr val="FCEEE6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67919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8528" y="24780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scattered follow-up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938528" y="29900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message on WhatsApp at 11pm. By the time an agent replies, a competitor already did. Speed decides who wins the sale.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21488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2459736"/>
            <a:ext cx="822960" cy="822960"/>
          </a:xfrm>
          <a:prstGeom prst="ellipse">
            <a:avLst/>
          </a:prstGeom>
          <a:solidFill>
            <a:srgbClr val="FCEEE6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67919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70648" y="24780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is separate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470648" y="29900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here, phone calls there, a spreadsheet somewhere else. Nothing is joined up, so context is lost between touches.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0248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581144"/>
            <a:ext cx="822960" cy="822960"/>
          </a:xfrm>
          <a:prstGeom prst="ellipse">
            <a:avLst/>
          </a:prstGeom>
          <a:solidFill>
            <a:srgbClr val="FCEEE6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80060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38528" y="45994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vanish after hanging up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938528" y="511149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buyer said, the objections raised, the promised next step — all locked in the agent's memory, never captured or coached.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270248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4581144"/>
            <a:ext cx="822960" cy="822960"/>
          </a:xfrm>
          <a:prstGeom prst="ellipse">
            <a:avLst/>
          </a:prstGeom>
          <a:solidFill>
            <a:srgbClr val="FCEEE6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8006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0648" y="45994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fly blind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470648" y="511149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leaders chase agents for updates in spreadsheets. No live view of pipeline, activity, or why deals stall.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conversations already happen — now AI can finally read them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31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property buyers in SEA start on WhatsApp, not email or web forms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1488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2331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63440" y="32461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window before a lead's interest drops sharply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1488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2331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366760" y="32461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transcribe, understand and draft replies in seconds — cheaply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927080" cy="1600200"/>
          </a:xfrm>
          <a:prstGeom prst="roundRect">
            <a:avLst>
              <a:gd name="adj" fmla="val 5714"/>
            </a:avLst>
          </a:prstGeom>
          <a:solidFill>
            <a:srgbClr val="16263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4956048"/>
            <a:ext cx="914400" cy="914400"/>
          </a:xfrm>
          <a:prstGeom prst="ellipse">
            <a:avLst/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5193792"/>
            <a:ext cx="438912" cy="4389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240280" y="4892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 longer technology — it's tooling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240280" y="534924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have the AI models. What they lack is a workspace that plugs those models into the messages and calls they already handle every day. That workspace is Callio.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Callio: one copilot across the whole sales conversation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connected pillars, one shared view of every lead.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643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68880"/>
            <a:ext cx="960120" cy="960120"/>
          </a:xfrm>
          <a:prstGeom prst="ellipse">
            <a:avLst/>
          </a:prstGeom>
          <a:solidFill>
            <a:srgbClr val="2AA79B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706624"/>
            <a:ext cx="484632" cy="484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38770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AI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4434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inbox with AI-drafted replies for every incoming message — sent only after the agent approves.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0832" y="2148840"/>
            <a:ext cx="345643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90872" y="2468880"/>
            <a:ext cx="960120" cy="96012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706624"/>
            <a:ext cx="484632" cy="4846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90872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90872" y="38770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Intelligence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690872" y="4434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transcribed and analysed: sentiment, objections, buyer stage and the next best action.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01584" y="2148840"/>
            <a:ext cx="345643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21624" y="2468880"/>
            <a:ext cx="960120" cy="960120"/>
          </a:xfrm>
          <a:prstGeom prst="ellipse">
            <a:avLst/>
          </a:prstGeom>
          <a:solidFill>
            <a:srgbClr val="3E7CB1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706624"/>
            <a:ext cx="484632" cy="4846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21624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421624" y="38770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421624" y="4434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and team-leader views of calls, leads, follow-ups and appointments — updated in real time.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40080" y="5806440"/>
            <a:ext cx="10844784" cy="658368"/>
          </a:xfrm>
          <a:prstGeom prst="roundRect">
            <a:avLst>
              <a:gd name="adj" fmla="val 16667"/>
            </a:avLst>
          </a:prstGeom>
          <a:solidFill>
            <a:srgbClr val="111C30"/>
          </a:solidFill>
          <a:ln/>
        </p:spPr>
      </p:sp>
      <p:sp>
        <p:nvSpPr>
          <p:cNvPr id="24" name="Text 19"/>
          <p:cNvSpPr/>
          <p:nvPr/>
        </p:nvSpPr>
        <p:spPr>
          <a:xfrm>
            <a:off x="960120" y="58064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design: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drafting and the listening — the agent always makes the final call.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ENGAGE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every WhatsApp lead in seconds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98932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386584"/>
            <a:ext cx="731520" cy="731520"/>
          </a:xfrm>
          <a:prstGeom prst="ellipse">
            <a:avLst/>
          </a:prstGeom>
          <a:solidFill>
            <a:srgbClr val="E6F4F1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5694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236829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inbox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10512" y="27523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lead conversations in a single place — full history, always on hand for whoever picks it up.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520440"/>
            <a:ext cx="598932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758184"/>
            <a:ext cx="731520" cy="731520"/>
          </a:xfrm>
          <a:prstGeom prst="ellipse">
            <a:avLst/>
          </a:prstGeom>
          <a:solidFill>
            <a:srgbClr val="E6F4F1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94106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10512" y="373989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replies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810512" y="41239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Callio reads the thread and the lead's profile, then drafts a reply in the right tone, instantly.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892040"/>
            <a:ext cx="598932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5129784"/>
            <a:ext cx="731520" cy="731520"/>
          </a:xfrm>
          <a:prstGeom prst="ellipse">
            <a:avLst/>
          </a:prstGeom>
          <a:solidFill>
            <a:srgbClr val="E6F4F1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531266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10512" y="511149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approves &amp; sends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10512" y="54955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edits or confirms with one tap. Nothing goes out without a human — no bot going rogue.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452360" y="2148840"/>
            <a:ext cx="3977640" cy="4023360"/>
          </a:xfrm>
          <a:prstGeom prst="roundRect">
            <a:avLst>
              <a:gd name="adj" fmla="val 3218"/>
            </a:avLst>
          </a:prstGeom>
          <a:solidFill>
            <a:srgbClr val="111C30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0" y="237744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2AA79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25054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75320" y="23774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  ·  Lead — Menara Vista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726680" y="3127248"/>
            <a:ext cx="2651760" cy="658368"/>
          </a:xfrm>
          <a:prstGeom prst="roundRect">
            <a:avLst>
              <a:gd name="adj" fmla="val 16667"/>
            </a:avLst>
          </a:prstGeom>
          <a:solidFill>
            <a:srgbClr val="1B2C49"/>
          </a:solidFill>
          <a:ln/>
        </p:spPr>
      </p:sp>
      <p:sp>
        <p:nvSpPr>
          <p:cNvPr id="24" name="Text 18"/>
          <p:cNvSpPr/>
          <p:nvPr/>
        </p:nvSpPr>
        <p:spPr>
          <a:xfrm>
            <a:off x="7863840" y="31272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3-bedroom still available? What's the price?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8503920" y="3977640"/>
            <a:ext cx="2651760" cy="932688"/>
          </a:xfrm>
          <a:prstGeom prst="roundRect">
            <a:avLst>
              <a:gd name="adj" fmla="val 11765"/>
            </a:avLst>
          </a:prstGeom>
          <a:solidFill>
            <a:srgbClr val="F2A93B"/>
          </a:solidFill>
          <a:ln/>
        </p:spPr>
      </p:sp>
      <p:sp>
        <p:nvSpPr>
          <p:cNvPr id="26" name="Text 20"/>
          <p:cNvSpPr/>
          <p:nvPr/>
        </p:nvSpPr>
        <p:spPr>
          <a:xfrm>
            <a:off x="8641080" y="404164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b="1" spc="100" kern="0" dirty="0">
                <a:solidFill>
                  <a:srgbClr val="5A3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
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A27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The 3-bed is available at RM780k. Want to view it this weekend?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7726680" y="5212080"/>
            <a:ext cx="1627632" cy="658368"/>
          </a:xfrm>
          <a:prstGeom prst="roundRect">
            <a:avLst>
              <a:gd name="adj" fmla="val 16667"/>
            </a:avLst>
          </a:prstGeom>
          <a:solidFill>
            <a:srgbClr val="2AA79B"/>
          </a:solidFill>
          <a:ln/>
        </p:spPr>
      </p:sp>
      <p:sp>
        <p:nvSpPr>
          <p:cNvPr id="28" name="Text 22"/>
          <p:cNvSpPr/>
          <p:nvPr/>
        </p:nvSpPr>
        <p:spPr>
          <a:xfrm>
            <a:off x="7726680" y="521208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 &amp; send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509760" y="5212080"/>
            <a:ext cx="1627632" cy="658368"/>
          </a:xfrm>
          <a:prstGeom prst="roundRect">
            <a:avLst>
              <a:gd name="adj" fmla="val 16667"/>
            </a:avLst>
          </a:prstGeom>
          <a:solidFill>
            <a:srgbClr val="1B2C49"/>
          </a:solidFill>
          <a:ln/>
        </p:spPr>
      </p:sp>
      <p:sp>
        <p:nvSpPr>
          <p:cNvPr id="30" name="Text 24"/>
          <p:cNvSpPr/>
          <p:nvPr/>
        </p:nvSpPr>
        <p:spPr>
          <a:xfrm>
            <a:off x="9509760" y="521208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UNDERSTAND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phone call into structured intelligence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call recording. Callio transcribes it, labels each speaker, and extracts what matters.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257800" cy="1353312"/>
          </a:xfrm>
          <a:prstGeom prst="roundRect">
            <a:avLst>
              <a:gd name="adj" fmla="val 6757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68880"/>
            <a:ext cx="777240" cy="777240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70048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47088" y="24323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buyer stage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47088" y="279806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how the buyer feels and where they are in the journey — warming up, deciding, or ready.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2194560"/>
            <a:ext cx="5257800" cy="1353312"/>
          </a:xfrm>
          <a:prstGeom prst="roundRect">
            <a:avLst>
              <a:gd name="adj" fmla="val 6757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2468880"/>
            <a:ext cx="777240" cy="777240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670048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79208" y="24323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Objections, captured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379208" y="279806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exact objections (price, location, timing) with the buyer's own words as evidence.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730752"/>
            <a:ext cx="5257800" cy="1353312"/>
          </a:xfrm>
          <a:prstGeom prst="roundRect">
            <a:avLst>
              <a:gd name="adj" fmla="val 6757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4005072"/>
            <a:ext cx="777240" cy="777240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206240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47088" y="39684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actions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47088" y="433425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concrete follow-up step so nothing is forgotten after the call.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3730752"/>
            <a:ext cx="5257800" cy="1353312"/>
          </a:xfrm>
          <a:prstGeom prst="roundRect">
            <a:avLst>
              <a:gd name="adj" fmla="val 6757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8232" y="4005072"/>
            <a:ext cx="777240" cy="777240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206240"/>
            <a:ext cx="374904" cy="374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9208" y="39684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&amp; summary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379208" y="433425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out budget, location and must-haves into a clean summary attached to the lead.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5440680"/>
            <a:ext cx="10927080" cy="777240"/>
          </a:xfrm>
          <a:prstGeom prst="roundRect">
            <a:avLst>
              <a:gd name="adj" fmla="val 14118"/>
            </a:avLst>
          </a:prstGeom>
          <a:solidFill>
            <a:srgbClr val="16263F"/>
          </a:solidFill>
          <a:ln/>
        </p:spPr>
      </p:sp>
      <p:sp>
        <p:nvSpPr>
          <p:cNvPr id="26" name="Text 20"/>
          <p:cNvSpPr/>
          <p:nvPr/>
        </p:nvSpPr>
        <p:spPr>
          <a:xfrm>
            <a:off x="96012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that used to need a manager sitting in on calls now happens automatically, on every call.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· MANAGE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managers a live line of sight into the team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9339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today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24912" y="187452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24912" y="199339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24912" y="26060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9744" y="187452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9744" y="199339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09744" y="26060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due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94576" y="187452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94576" y="199339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94576" y="26060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51206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calls this week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31520" y="3749040"/>
          <a:ext cx="49377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5989320" y="3246120"/>
            <a:ext cx="54864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217920" y="3401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objections across the team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989320" y="3657600"/>
          <a:ext cx="2743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8915400" y="3913632"/>
            <a:ext cx="182880" cy="182880"/>
          </a:xfrm>
          <a:prstGeom prst="ellipse">
            <a:avLst/>
          </a:prstGeom>
          <a:solidFill>
            <a:srgbClr val="E0604F"/>
          </a:solidFill>
          <a:ln/>
        </p:spPr>
      </p:sp>
      <p:sp>
        <p:nvSpPr>
          <p:cNvPr id="23" name="Text 19"/>
          <p:cNvSpPr/>
          <p:nvPr/>
        </p:nvSpPr>
        <p:spPr>
          <a:xfrm>
            <a:off x="9189720" y="3886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915400" y="4425696"/>
            <a:ext cx="182880" cy="1828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/>
          <p:nvPr/>
        </p:nvSpPr>
        <p:spPr>
          <a:xfrm>
            <a:off x="9189720" y="4398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8915400" y="4937760"/>
            <a:ext cx="182880" cy="18288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27" name="Text 23"/>
          <p:cNvSpPr/>
          <p:nvPr/>
        </p:nvSpPr>
        <p:spPr>
          <a:xfrm>
            <a:off x="9189720" y="4910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8915400" y="5449824"/>
            <a:ext cx="182880" cy="182880"/>
          </a:xfrm>
          <a:prstGeom prst="ellipse">
            <a:avLst/>
          </a:prstGeom>
          <a:solidFill>
            <a:srgbClr val="2AA79B"/>
          </a:solidFill>
          <a:ln/>
        </p:spPr>
      </p:sp>
      <p:sp>
        <p:nvSpPr>
          <p:cNvPr id="29" name="Text 25"/>
          <p:cNvSpPr/>
          <p:nvPr/>
        </p:nvSpPr>
        <p:spPr>
          <a:xfrm>
            <a:off x="9189720" y="5422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40080" y="6419088"/>
            <a:ext cx="10835640" cy="914"/>
          </a:xfrm>
          <a:prstGeom prst="roundRect">
            <a:avLst/>
          </a:prstGeom>
          <a:solidFill>
            <a:srgbClr val="F4F7FB"/>
          </a:solidFill>
          <a:ln/>
        </p:spPr>
      </p:sp>
      <p:sp>
        <p:nvSpPr>
          <p:cNvPr id="31" name="Text 27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dashboard — agent view rolls up into a team-leader view with a per-agent breakdown.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loop, from first message to closed deal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788920"/>
            <a:ext cx="822960" cy="82296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29809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2660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7216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06908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flow in from Google Sheets &amp; WhatsApp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32" y="3136392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50592" y="251460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889504" y="2788920"/>
            <a:ext cx="822960" cy="82296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28" y="298094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96896" y="2660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450592" y="37216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587752" y="406908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replies, agent approves &amp; sends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944" y="3136392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261104" y="251460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700016" y="2788920"/>
            <a:ext cx="822960" cy="82296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980944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407408" y="2660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4261104" y="37216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398264" y="406908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speaks with the buyer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456" y="3136392"/>
            <a:ext cx="164592" cy="16459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071616" y="251460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510528" y="2788920"/>
            <a:ext cx="822960" cy="82296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552" y="2980944"/>
            <a:ext cx="438912" cy="43891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217920" y="2660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071616" y="37216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6208776" y="406908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Callio extracts objections &amp; next steps</a:t>
            </a:r>
            <a:endParaRPr lang="en-US" sz="10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4968" y="3136392"/>
            <a:ext cx="164592" cy="16459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7882128" y="251460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8321040" y="2788920"/>
            <a:ext cx="822960" cy="82296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3064" y="2980944"/>
            <a:ext cx="438912" cy="43891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8028432" y="2660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7882128" y="37216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500" dirty="0"/>
          </a:p>
        </p:txBody>
      </p:sp>
      <p:sp>
        <p:nvSpPr>
          <p:cNvPr id="37" name="Text 26"/>
          <p:cNvSpPr/>
          <p:nvPr/>
        </p:nvSpPr>
        <p:spPr>
          <a:xfrm>
            <a:off x="8019288" y="406908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update for agent &amp; leader</a:t>
            </a:r>
            <a:endParaRPr lang="en-US" sz="10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5480" y="3136392"/>
            <a:ext cx="164592" cy="164592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9692640" y="251460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40" name="Shape 28"/>
          <p:cNvSpPr/>
          <p:nvPr/>
        </p:nvSpPr>
        <p:spPr>
          <a:xfrm>
            <a:off x="10131552" y="2788920"/>
            <a:ext cx="822960" cy="82296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23576" y="2980944"/>
            <a:ext cx="438912" cy="438912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9838944" y="2660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0"/>
          <p:cNvSpPr/>
          <p:nvPr/>
        </p:nvSpPr>
        <p:spPr>
          <a:xfrm>
            <a:off x="9692640" y="37216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500" dirty="0"/>
          </a:p>
        </p:txBody>
      </p:sp>
      <p:sp>
        <p:nvSpPr>
          <p:cNvPr id="44" name="Text 31"/>
          <p:cNvSpPr/>
          <p:nvPr/>
        </p:nvSpPr>
        <p:spPr>
          <a:xfrm>
            <a:off x="9829800" y="406908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follow-up, more deals won</a:t>
            </a:r>
            <a:endParaRPr lang="en-US" sz="1050" dirty="0"/>
          </a:p>
        </p:txBody>
      </p:sp>
      <p:sp>
        <p:nvSpPr>
          <p:cNvPr id="45" name="Shape 32"/>
          <p:cNvSpPr/>
          <p:nvPr/>
        </p:nvSpPr>
        <p:spPr>
          <a:xfrm>
            <a:off x="640080" y="5212080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16263F"/>
          </a:solidFill>
          <a:ln/>
        </p:spPr>
      </p:sp>
      <p:sp>
        <p:nvSpPr>
          <p:cNvPr id="46" name="Text 33"/>
          <p:cNvSpPr/>
          <p:nvPr/>
        </p:nvSpPr>
        <p:spPr>
          <a:xfrm>
            <a:off x="960120" y="52120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advantage: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and chat feeds the lead record and the dashboards — so the team gets sharper with each interaction, not just busier.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Callio changes for the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7860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377440"/>
            <a:ext cx="658368" cy="658368"/>
          </a:xfrm>
          <a:prstGeom prst="ellipse">
            <a:avLst/>
          </a:prstGeom>
          <a:solidFill>
            <a:srgbClr val="2AA79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52374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96112" y="3703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every lead — minutes, not hours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10712" y="2103120"/>
            <a:ext cx="257860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66744" y="2377440"/>
            <a:ext cx="658368" cy="658368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52374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66744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666744" y="3703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lost to forgotten follow-ups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81344" y="2103120"/>
            <a:ext cx="257860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37376" y="2377440"/>
            <a:ext cx="658368" cy="65836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52374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437376" y="3703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calls captured &amp; coached automatically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951976" y="2103120"/>
            <a:ext cx="257860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08008" y="2377440"/>
            <a:ext cx="658368" cy="658368"/>
          </a:xfrm>
          <a:prstGeom prst="ellipse">
            <a:avLst/>
          </a:prstGeom>
          <a:solidFill>
            <a:srgbClr val="E060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252374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08008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view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9208008" y="3703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pipeline for every manager, live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4709160"/>
            <a:ext cx="10835640" cy="1508760"/>
          </a:xfrm>
          <a:prstGeom prst="roundRect">
            <a:avLst>
              <a:gd name="adj" fmla="val 6061"/>
            </a:avLst>
          </a:prstGeom>
          <a:solidFill>
            <a:srgbClr val="111C30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5840" y="5074920"/>
            <a:ext cx="822960" cy="822960"/>
          </a:xfrm>
          <a:prstGeom prst="ellipse">
            <a:avLst/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5276088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057400" y="4937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2057400" y="5349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spend their time selling, not admin. Every lead is worked; every call is remembered; every manager can see the pipeline. Small gains in response time and follow-up convert directly into more closed property deals.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CALLIO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CRM — a copilot built for how agents actually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542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tools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272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0815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CRM built for desktops, not chat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7856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73989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disappear into voicemail history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43984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43982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depend on memory &amp; sticky notes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102352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50566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report on last week, not right now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6172200" y="228600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111C30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560320"/>
            <a:ext cx="310896" cy="3108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03720" y="2542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Callio way</a:t>
            </a:r>
            <a:endParaRPr lang="en-US" sz="16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12724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03720" y="30815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WhatsApp — where buyers already are</a:t>
            </a:r>
            <a:endParaRPr lang="en-US" sz="13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785616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03720" y="373989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transcribed, analysed &amp; remembered</a:t>
            </a:r>
            <a:endParaRPr lang="en-US" sz="13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443984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903720" y="43982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&amp; flags follow-ups; nothing slips</a:t>
            </a:r>
            <a:endParaRPr lang="en-US" sz="13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5102352"/>
            <a:ext cx="237744" cy="237744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903720" y="50566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see live pipeline &amp; objection trends</a:t>
            </a:r>
            <a:endParaRPr lang="en-US" sz="1300" dirty="0"/>
          </a:p>
        </p:txBody>
      </p:sp>
      <p:sp>
        <p:nvSpPr>
          <p:cNvPr id="25" name="Shape 14"/>
          <p:cNvSpPr/>
          <p:nvPr/>
        </p:nvSpPr>
        <p:spPr>
          <a:xfrm>
            <a:off x="640080" y="6144768"/>
            <a:ext cx="10881360" cy="502920"/>
          </a:xfrm>
          <a:prstGeom prst="roundRect">
            <a:avLst>
              <a:gd name="adj" fmla="val 18182"/>
            </a:avLst>
          </a:prstGeom>
          <a:solidFill>
            <a:srgbClr val="E6F4F1"/>
          </a:solidFill>
          <a:ln/>
        </p:spPr>
      </p:sp>
      <p:sp>
        <p:nvSpPr>
          <p:cNvPr id="26" name="Text 15"/>
          <p:cNvSpPr/>
          <p:nvPr/>
        </p:nvSpPr>
        <p:spPr>
          <a:xfrm>
            <a:off x="960120" y="61447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moat:  </a:t>
            </a:r>
            <a:pPr indent="0" marL="0">
              <a:buNone/>
            </a:pPr>
            <a:r>
              <a:rPr lang="en-US" sz="13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AI that turns real conversations into a compounding memory of every lead.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669280" cy="5669280"/>
          </a:xfrm>
          <a:prstGeom prst="ellipse">
            <a:avLst/>
          </a:prstGeom>
          <a:solidFill>
            <a:srgbClr val="1B2C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377440"/>
            <a:ext cx="5120640" cy="5120640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copilot to autopilot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377440"/>
            <a:ext cx="1234440" cy="457200"/>
          </a:xfrm>
          <a:prstGeom prst="roundRect">
            <a:avLst>
              <a:gd name="adj" fmla="val 48000"/>
            </a:avLst>
          </a:prstGeom>
          <a:solidFill>
            <a:srgbClr val="2AA79B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2999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50976" y="34930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AI replies, call intelligence, agent &amp; leader dashboards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10312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2377440"/>
            <a:ext cx="1234440" cy="457200"/>
          </a:xfrm>
          <a:prstGeom prst="roundRect">
            <a:avLst>
              <a:gd name="adj" fmla="val 48000"/>
            </a:avLst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54296" y="2999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54296" y="34930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follow-up scheduling, richer lead scoring, deeper CRM sync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210312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1B2C49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2377440"/>
            <a:ext cx="1234440" cy="457200"/>
          </a:xfrm>
          <a:prstGeom prst="roundRect">
            <a:avLst>
              <a:gd name="adj" fmla="val 48000"/>
            </a:avLst>
          </a:prstGeom>
          <a:solidFill>
            <a:srgbClr val="CFE0F5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57616" y="2999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57616" y="34930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copilot &amp; predictive deal-closing across the whole team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70916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F2A93B"/>
          </a:solidFill>
          <a:ln/>
          <a:effectLst>
            <a:outerShdw sx="100000" sy="100000" kx="0" ky="0" algn="bl" rotWithShape="0" blurRad="114300" dist="38100" dir="5400000">
              <a:srgbClr val="0A1424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48920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3A27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Callio closes the follow-up gap — and turns every conversation into a closed deal.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05840" y="5623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3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put an AI copilot in every property agent's pocket.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Callio — AI Sales Copilot for Property Agents</dc:title>
  <dc:subject>PptxGenJS Presentation</dc:subject>
  <dc:creator>Callio</dc:creator>
  <cp:lastModifiedBy>Callio</cp:lastModifiedBy>
  <cp:revision>1</cp:revision>
  <dcterms:created xsi:type="dcterms:W3CDTF">2026-07-06T03:54:07Z</dcterms:created>
  <dcterms:modified xsi:type="dcterms:W3CDTF">2026-07-06T03:54:07Z</dcterms:modified>
</cp:coreProperties>
</file>